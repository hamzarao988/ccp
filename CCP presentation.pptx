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3" r:id="rId8"/>
    <p:sldId id="262"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7E6A3C8-20DA-4EA1-AC94-99D39B4C4606}"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3593721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7E6A3C8-20DA-4EA1-AC94-99D39B4C4606}"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4271928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7E6A3C8-20DA-4EA1-AC94-99D39B4C4606}"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2399031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7E6A3C8-20DA-4EA1-AC94-99D39B4C4606}"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803032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7E6A3C8-20DA-4EA1-AC94-99D39B4C4606}"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1235630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7E6A3C8-20DA-4EA1-AC94-99D39B4C4606}"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3594033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E6A3C8-20DA-4EA1-AC94-99D39B4C4606}"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3616270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7E6A3C8-20DA-4EA1-AC94-99D39B4C4606}"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248432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7E6A3C8-20DA-4EA1-AC94-99D39B4C4606}"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415845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7E6A3C8-20DA-4EA1-AC94-99D39B4C4606}"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4103729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7E6A3C8-20DA-4EA1-AC94-99D39B4C4606}"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40372104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7E6A3C8-20DA-4EA1-AC94-99D39B4C4606}"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6D8F48-B6E5-441D-9F07-39429B4F790B}"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781853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7E6A3C8-20DA-4EA1-AC94-99D39B4C4606}"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2501803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E7E6A3C8-20DA-4EA1-AC94-99D39B4C4606}"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5918000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E7E6A3C8-20DA-4EA1-AC94-99D39B4C4606}"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5043108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7E6A3C8-20DA-4EA1-AC94-99D39B4C4606}"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2117246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7E6A3C8-20DA-4EA1-AC94-99D39B4C4606}"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6D8F48-B6E5-441D-9F07-39429B4F790B}" type="slidenum">
              <a:rPr lang="en-US" smtClean="0"/>
              <a:t>‹#›</a:t>
            </a:fld>
            <a:endParaRPr lang="en-US"/>
          </a:p>
        </p:txBody>
      </p:sp>
    </p:spTree>
    <p:extLst>
      <p:ext uri="{BB962C8B-B14F-4D97-AF65-F5344CB8AC3E}">
        <p14:creationId xmlns:p14="http://schemas.microsoft.com/office/powerpoint/2010/main" val="356196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E7E6A3C8-20DA-4EA1-AC94-99D39B4C4606}" type="datetimeFigureOut">
              <a:rPr lang="en-US" smtClean="0"/>
              <a:t>11/9/2025</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A6D8F48-B6E5-441D-9F07-39429B4F790B}" type="slidenum">
              <a:rPr lang="en-US" smtClean="0"/>
              <a:t>‹#›</a:t>
            </a:fld>
            <a:endParaRPr lang="en-US"/>
          </a:p>
        </p:txBody>
      </p:sp>
    </p:spTree>
    <p:extLst>
      <p:ext uri="{BB962C8B-B14F-4D97-AF65-F5344CB8AC3E}">
        <p14:creationId xmlns:p14="http://schemas.microsoft.com/office/powerpoint/2010/main" val="2190156667"/>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chemeClr val="accent1">
                    <a:lumMod val="40000"/>
                    <a:lumOff val="60000"/>
                  </a:schemeClr>
                </a:solidFill>
                <a:latin typeface="Bahnschrift SemiBold SemiConden" panose="020B0502040204020203" pitchFamily="34" charset="0"/>
              </a:rPr>
              <a:t>CCP Report</a:t>
            </a:r>
            <a:br>
              <a:rPr lang="en-US" dirty="0" smtClean="0">
                <a:solidFill>
                  <a:schemeClr val="accent1">
                    <a:lumMod val="40000"/>
                    <a:lumOff val="60000"/>
                  </a:schemeClr>
                </a:solidFill>
                <a:latin typeface="Bahnschrift SemiBold SemiConden" panose="020B0502040204020203" pitchFamily="34" charset="0"/>
              </a:rPr>
            </a:br>
            <a:r>
              <a:rPr lang="en-US" dirty="0" smtClean="0">
                <a:solidFill>
                  <a:schemeClr val="accent1">
                    <a:lumMod val="40000"/>
                    <a:lumOff val="60000"/>
                  </a:schemeClr>
                </a:solidFill>
                <a:latin typeface="Bahnschrift SemiBold SemiConden" panose="020B0502040204020203" pitchFamily="34" charset="0"/>
              </a:rPr>
              <a:t>“Report card generator</a:t>
            </a:r>
            <a:r>
              <a:rPr lang="en-US" dirty="0" smtClean="0">
                <a:solidFill>
                  <a:schemeClr val="accent1">
                    <a:lumMod val="40000"/>
                    <a:lumOff val="60000"/>
                  </a:schemeClr>
                </a:solidFill>
              </a:rPr>
              <a:t>”</a:t>
            </a:r>
            <a:endParaRPr lang="en-US" dirty="0">
              <a:solidFill>
                <a:schemeClr val="accent1">
                  <a:lumMod val="40000"/>
                  <a:lumOff val="60000"/>
                </a:schemeClr>
              </a:solidFill>
            </a:endParaRPr>
          </a:p>
        </p:txBody>
      </p:sp>
      <p:sp>
        <p:nvSpPr>
          <p:cNvPr id="3" name="Subtitle 2"/>
          <p:cNvSpPr>
            <a:spLocks noGrp="1"/>
          </p:cNvSpPr>
          <p:nvPr>
            <p:ph type="subTitle" idx="1"/>
          </p:nvPr>
        </p:nvSpPr>
        <p:spPr/>
        <p:txBody>
          <a:bodyPr>
            <a:normAutofit lnSpcReduction="10000"/>
          </a:bodyPr>
          <a:lstStyle/>
          <a:p>
            <a:r>
              <a:rPr lang="en-US" dirty="0" smtClean="0">
                <a:solidFill>
                  <a:schemeClr val="tx1">
                    <a:lumMod val="75000"/>
                  </a:schemeClr>
                </a:solidFill>
              </a:rPr>
              <a:t>Made by:</a:t>
            </a:r>
          </a:p>
          <a:p>
            <a:r>
              <a:rPr lang="en-US" dirty="0" smtClean="0">
                <a:solidFill>
                  <a:schemeClr val="tx1">
                    <a:lumMod val="75000"/>
                  </a:schemeClr>
                </a:solidFill>
              </a:rPr>
              <a:t>Syed </a:t>
            </a:r>
            <a:r>
              <a:rPr lang="en-US" dirty="0" err="1" smtClean="0">
                <a:solidFill>
                  <a:schemeClr val="tx1">
                    <a:lumMod val="75000"/>
                  </a:schemeClr>
                </a:solidFill>
              </a:rPr>
              <a:t>Maaz</a:t>
            </a:r>
            <a:r>
              <a:rPr lang="en-US" dirty="0" smtClean="0">
                <a:solidFill>
                  <a:schemeClr val="tx1">
                    <a:lumMod val="75000"/>
                  </a:schemeClr>
                </a:solidFill>
              </a:rPr>
              <a:t> Zafar CT-25193</a:t>
            </a:r>
          </a:p>
          <a:p>
            <a:r>
              <a:rPr lang="en-US" dirty="0" smtClean="0">
                <a:solidFill>
                  <a:schemeClr val="tx1">
                    <a:lumMod val="75000"/>
                  </a:schemeClr>
                </a:solidFill>
              </a:rPr>
              <a:t>Hamza Naveed CT-25186</a:t>
            </a:r>
            <a:endParaRPr lang="en-US" dirty="0">
              <a:solidFill>
                <a:schemeClr val="tx1">
                  <a:lumMod val="75000"/>
                </a:schemeClr>
              </a:solidFill>
            </a:endParaRPr>
          </a:p>
        </p:txBody>
      </p:sp>
    </p:spTree>
    <p:extLst>
      <p:ext uri="{BB962C8B-B14F-4D97-AF65-F5344CB8AC3E}">
        <p14:creationId xmlns:p14="http://schemas.microsoft.com/office/powerpoint/2010/main" val="1543400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solidFill>
                  <a:schemeClr val="tx1">
                    <a:lumMod val="75000"/>
                  </a:schemeClr>
                </a:solidFill>
              </a:rPr>
              <a:t>Abstract</a:t>
            </a:r>
            <a:endParaRPr lang="en-US" sz="2800" dirty="0">
              <a:solidFill>
                <a:schemeClr val="tx1">
                  <a:lumMod val="75000"/>
                </a:schemeClr>
              </a:solidFill>
            </a:endParaRPr>
          </a:p>
        </p:txBody>
      </p:sp>
      <p:sp>
        <p:nvSpPr>
          <p:cNvPr id="3" name="TextBox 2"/>
          <p:cNvSpPr txBox="1"/>
          <p:nvPr/>
        </p:nvSpPr>
        <p:spPr>
          <a:xfrm>
            <a:off x="531223" y="1935921"/>
            <a:ext cx="10641874" cy="3816429"/>
          </a:xfrm>
          <a:prstGeom prst="rect">
            <a:avLst/>
          </a:prstGeom>
          <a:noFill/>
        </p:spPr>
        <p:txBody>
          <a:bodyPr wrap="square" rtlCol="0">
            <a:spAutoFit/>
          </a:bodyPr>
          <a:lstStyle/>
          <a:p>
            <a:r>
              <a:rPr lang="en-US" sz="2200" dirty="0" smtClean="0"/>
              <a:t>This report describes how a C program was developed to calculate student grades by using arrays and basic control-flow structures. It explains the entire process in an easy and understandable way, starting from identifying what the program needed to do, to choosing the right tools in C to make it work. The report goes over how arrays were used to store student scores, how loops helped repeat tasks without writing extra code, and how if-else statements were used to decide the correct grade for each student. It also talks about the different challenges that came up, such as making sure the logic was correct, keeping the code simple, and avoiding common errors like wrong input or issues with averaging scores. The purpose of this report is to clearly show the thinking, the steps, and the problem-solving involved in building the final version of the grading program</a:t>
            </a:r>
            <a:endParaRPr lang="en-US" sz="2200" dirty="0"/>
          </a:p>
        </p:txBody>
      </p:sp>
    </p:spTree>
    <p:extLst>
      <p:ext uri="{BB962C8B-B14F-4D97-AF65-F5344CB8AC3E}">
        <p14:creationId xmlns:p14="http://schemas.microsoft.com/office/powerpoint/2010/main" val="17218448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394" y="600891"/>
            <a:ext cx="10353761" cy="1326321"/>
          </a:xfrm>
        </p:spPr>
        <p:txBody>
          <a:bodyPr/>
          <a:lstStyle/>
          <a:p>
            <a:r>
              <a:rPr lang="en-US" dirty="0" smtClean="0">
                <a:solidFill>
                  <a:schemeClr val="tx1">
                    <a:lumMod val="75000"/>
                  </a:schemeClr>
                </a:solidFill>
              </a:rPr>
              <a:t>Initial Steps</a:t>
            </a:r>
            <a:endParaRPr lang="en-US" dirty="0">
              <a:solidFill>
                <a:schemeClr val="tx1">
                  <a:lumMod val="75000"/>
                </a:schemeClr>
              </a:solidFill>
            </a:endParaRPr>
          </a:p>
        </p:txBody>
      </p:sp>
      <p:sp>
        <p:nvSpPr>
          <p:cNvPr id="3" name="TextBox 2"/>
          <p:cNvSpPr txBox="1"/>
          <p:nvPr/>
        </p:nvSpPr>
        <p:spPr>
          <a:xfrm>
            <a:off x="705394" y="1672046"/>
            <a:ext cx="10432869" cy="4493538"/>
          </a:xfrm>
          <a:prstGeom prst="rect">
            <a:avLst/>
          </a:prstGeom>
          <a:noFill/>
        </p:spPr>
        <p:txBody>
          <a:bodyPr wrap="square" rtlCol="0">
            <a:spAutoFit/>
          </a:bodyPr>
          <a:lstStyle/>
          <a:p>
            <a:r>
              <a:rPr lang="en-US" sz="2600" dirty="0" smtClean="0"/>
              <a:t>The task started with writing a simple C program that could take the scores of several students, calculate each student’s average, determine their grade, and then display the results. At first, this seemed straightforward, but as the program grew, it became clear that a more organized approach would be needed. To achieve this, we began using 2D arrays so we could store the scores in a cleaner, more structured way. This made the program easier to manage and allowed it to handle larger amounts of data without becoming messy or confusing. The main concern was to design the logic so it flowed naturally, and how to keep each part of the program easy to read and understand.</a:t>
            </a:r>
            <a:endParaRPr lang="en-US" sz="2600" dirty="0"/>
          </a:p>
        </p:txBody>
      </p:sp>
    </p:spTree>
    <p:extLst>
      <p:ext uri="{BB962C8B-B14F-4D97-AF65-F5344CB8AC3E}">
        <p14:creationId xmlns:p14="http://schemas.microsoft.com/office/powerpoint/2010/main" val="317999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lumMod val="75000"/>
                  </a:schemeClr>
                </a:solidFill>
              </a:rPr>
              <a:t>Program</a:t>
            </a:r>
            <a:r>
              <a:rPr lang="en-US" dirty="0" smtClean="0"/>
              <a:t> </a:t>
            </a:r>
            <a:r>
              <a:rPr lang="en-US" dirty="0" smtClean="0">
                <a:solidFill>
                  <a:schemeClr val="tx1">
                    <a:lumMod val="75000"/>
                  </a:schemeClr>
                </a:solidFill>
              </a:rPr>
              <a:t>requirements</a:t>
            </a:r>
            <a:endParaRPr lang="en-US" dirty="0">
              <a:solidFill>
                <a:schemeClr val="tx1">
                  <a:lumMod val="75000"/>
                </a:schemeClr>
              </a:solidFill>
            </a:endParaRPr>
          </a:p>
        </p:txBody>
      </p:sp>
      <p:sp>
        <p:nvSpPr>
          <p:cNvPr id="3" name="TextBox 2"/>
          <p:cNvSpPr txBox="1"/>
          <p:nvPr/>
        </p:nvSpPr>
        <p:spPr>
          <a:xfrm>
            <a:off x="635422" y="1935921"/>
            <a:ext cx="10910505" cy="3785652"/>
          </a:xfrm>
          <a:prstGeom prst="rect">
            <a:avLst/>
          </a:prstGeom>
          <a:noFill/>
        </p:spPr>
        <p:txBody>
          <a:bodyPr wrap="square" rtlCol="0">
            <a:spAutoFit/>
          </a:bodyPr>
          <a:lstStyle/>
          <a:p>
            <a:r>
              <a:rPr lang="en-US" sz="2400" dirty="0" smtClean="0"/>
              <a:t>Before writing any code, it was essential to break down the requirements of the program. First, the program needed to handle multiple students, each with multiple subjects. This meant receiving input in a systematic way and processing it efficiently. Next, the program had to calculate an average for each student and assign a grade based on predefined ranges. Finally, the program needed to output the results clearly. Understanding these requirements early on helped guide decisions about which data structures to use, how to organize the input and output, and most importantly writing its pseudocode to clear out the picture on what logic is to be used essentially helping our main code later on</a:t>
            </a:r>
            <a:endParaRPr lang="en-US" sz="2400" dirty="0"/>
          </a:p>
        </p:txBody>
      </p:sp>
    </p:spTree>
    <p:extLst>
      <p:ext uri="{BB962C8B-B14F-4D97-AF65-F5344CB8AC3E}">
        <p14:creationId xmlns:p14="http://schemas.microsoft.com/office/powerpoint/2010/main" val="6043211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lumMod val="75000"/>
                  </a:schemeClr>
                </a:solidFill>
              </a:rPr>
              <a:t>Using arrays in the code</a:t>
            </a:r>
            <a:endParaRPr lang="en-US" dirty="0">
              <a:solidFill>
                <a:schemeClr val="tx1">
                  <a:lumMod val="75000"/>
                </a:schemeClr>
              </a:solidFill>
            </a:endParaRPr>
          </a:p>
        </p:txBody>
      </p:sp>
      <p:sp>
        <p:nvSpPr>
          <p:cNvPr id="3" name="TextBox 2"/>
          <p:cNvSpPr txBox="1"/>
          <p:nvPr/>
        </p:nvSpPr>
        <p:spPr>
          <a:xfrm>
            <a:off x="792177" y="1935921"/>
            <a:ext cx="10596996" cy="3477875"/>
          </a:xfrm>
          <a:prstGeom prst="rect">
            <a:avLst/>
          </a:prstGeom>
          <a:noFill/>
        </p:spPr>
        <p:txBody>
          <a:bodyPr wrap="square" rtlCol="0">
            <a:spAutoFit/>
          </a:bodyPr>
          <a:lstStyle/>
          <a:p>
            <a:r>
              <a:rPr lang="en-US" sz="2200" dirty="0" smtClean="0"/>
              <a:t>Arrays were central to structuring the data in the program, with a 2D array used to store student scores across various subjects. 1D array represented students and the other represented subjects, allowing for efficient looping through all the scores without redundant code. This structure streamlined the process and made the program more organized.</a:t>
            </a:r>
          </a:p>
          <a:p>
            <a:r>
              <a:rPr lang="en-US" sz="2200" dirty="0" smtClean="0"/>
              <a:t>In addition, 1D arrays were used to store each student’s average score and final grade, separating data calculation from the scores themselves. </a:t>
            </a:r>
            <a:r>
              <a:rPr lang="en-US" sz="2200" dirty="0"/>
              <a:t> </a:t>
            </a:r>
            <a:r>
              <a:rPr lang="en-US" sz="2200" dirty="0" smtClean="0"/>
              <a:t>The flexibility of arrays also made the program to accommodate a larger input size of data allowing it to easily handle an increasing number of students or subjects without major changes. </a:t>
            </a:r>
            <a:endParaRPr lang="en-US" sz="2200" dirty="0"/>
          </a:p>
        </p:txBody>
      </p:sp>
    </p:spTree>
    <p:extLst>
      <p:ext uri="{BB962C8B-B14F-4D97-AF65-F5344CB8AC3E}">
        <p14:creationId xmlns:p14="http://schemas.microsoft.com/office/powerpoint/2010/main" val="1505684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lumMod val="75000"/>
                  </a:schemeClr>
                </a:solidFill>
              </a:rPr>
              <a:t>Use of loops</a:t>
            </a:r>
            <a:endParaRPr lang="en-US" dirty="0">
              <a:solidFill>
                <a:schemeClr val="tx1">
                  <a:lumMod val="75000"/>
                </a:schemeClr>
              </a:solidFill>
            </a:endParaRPr>
          </a:p>
        </p:txBody>
      </p:sp>
      <p:sp>
        <p:nvSpPr>
          <p:cNvPr id="3" name="TextBox 2"/>
          <p:cNvSpPr txBox="1"/>
          <p:nvPr/>
        </p:nvSpPr>
        <p:spPr>
          <a:xfrm>
            <a:off x="517189" y="1863634"/>
            <a:ext cx="11146971" cy="4154984"/>
          </a:xfrm>
          <a:prstGeom prst="rect">
            <a:avLst/>
          </a:prstGeom>
          <a:noFill/>
        </p:spPr>
        <p:txBody>
          <a:bodyPr wrap="square" rtlCol="0">
            <a:spAutoFit/>
          </a:bodyPr>
          <a:lstStyle/>
          <a:p>
            <a:r>
              <a:rPr lang="en-US" sz="2200" dirty="0" smtClean="0"/>
              <a:t>Loops played a crucial role in making the program efficient, organized, and easy to manage. They provided a clean and systematic way to handle repetitive tasks, such as entering scores, calculating totals and averages, and displaying the final results. Instead of writing separate code blocks for each student or subject, loops allowed these actions to be performed repeatedly with just a few lines of code. This not only saved time during development but also made the overall structure of the program much simpler and more consistent.</a:t>
            </a:r>
          </a:p>
          <a:p>
            <a:r>
              <a:rPr lang="en-US" sz="2200" dirty="0" smtClean="0"/>
              <a:t>By using loops, the program became far less prone to human error, since the same logic could be applied automatically across all students and subjects. This consistency also made the program much easier to update or expand later on. For example, if more students or subjects needed to be added, the existing loops could handle the new data without any major changes to the logic.</a:t>
            </a:r>
            <a:endParaRPr lang="en-US" sz="2200" dirty="0"/>
          </a:p>
        </p:txBody>
      </p:sp>
    </p:spTree>
    <p:extLst>
      <p:ext uri="{BB962C8B-B14F-4D97-AF65-F5344CB8AC3E}">
        <p14:creationId xmlns:p14="http://schemas.microsoft.com/office/powerpoint/2010/main" val="41963508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lumMod val="75000"/>
                  </a:schemeClr>
                </a:solidFill>
              </a:rPr>
              <a:t>Possible errors</a:t>
            </a:r>
            <a:endParaRPr lang="en-US" dirty="0">
              <a:solidFill>
                <a:schemeClr val="tx1">
                  <a:lumMod val="75000"/>
                </a:schemeClr>
              </a:solidFill>
            </a:endParaRPr>
          </a:p>
        </p:txBody>
      </p:sp>
      <p:sp>
        <p:nvSpPr>
          <p:cNvPr id="3" name="TextBox 2"/>
          <p:cNvSpPr txBox="1"/>
          <p:nvPr/>
        </p:nvSpPr>
        <p:spPr>
          <a:xfrm>
            <a:off x="409303" y="1619794"/>
            <a:ext cx="10746377" cy="4493538"/>
          </a:xfrm>
          <a:prstGeom prst="rect">
            <a:avLst/>
          </a:prstGeom>
          <a:noFill/>
        </p:spPr>
        <p:txBody>
          <a:bodyPr wrap="square" rtlCol="0">
            <a:spAutoFit/>
          </a:bodyPr>
          <a:lstStyle/>
          <a:p>
            <a:r>
              <a:rPr lang="en-US" sz="2200" dirty="0" smtClean="0"/>
              <a:t>Throughout the development of the program, we faced multiple errors during testing. One of the first issues that came up was handling incorrect user input. For example, a user might accidentally type letters instead of numbers when entering scores, which could cause the program to crash or give invalid results. To prevent that, input validation was an important consideration, ensuring that only proper numerical values were accepted before moving forward.</a:t>
            </a:r>
          </a:p>
          <a:p>
            <a:r>
              <a:rPr lang="en-US" sz="2200" dirty="0" smtClean="0"/>
              <a:t>Another concern involved managing array boundaries. Since arrays have a fixed size, it was essential to make sure loops didn’t accidentally try to access elements outside the valid range. Floating-point calculations brought up important challenges during development. When dealing with averages or percentages, tiny rounding differences could appear which could bring some changes in the final results. To fix this, proper rounding and formatting were added so that the output stayed consistent and accurate</a:t>
            </a:r>
            <a:endParaRPr lang="en-US" sz="2200" dirty="0"/>
          </a:p>
        </p:txBody>
      </p:sp>
    </p:spTree>
    <p:extLst>
      <p:ext uri="{BB962C8B-B14F-4D97-AF65-F5344CB8AC3E}">
        <p14:creationId xmlns:p14="http://schemas.microsoft.com/office/powerpoint/2010/main" val="34411473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30926" y="984069"/>
            <a:ext cx="10807337" cy="5693866"/>
          </a:xfrm>
          <a:prstGeom prst="rect">
            <a:avLst/>
          </a:prstGeom>
          <a:noFill/>
        </p:spPr>
        <p:txBody>
          <a:bodyPr wrap="square" rtlCol="0">
            <a:spAutoFit/>
          </a:bodyPr>
          <a:lstStyle/>
          <a:p>
            <a:r>
              <a:rPr lang="en-US" sz="2800" dirty="0" smtClean="0"/>
              <a:t>The nested if structure used for assigning final grades also needed careful attention. If the conditions weren’t written in the right order, or if one overlapped with another, students could easily end up with the wrong grade. To avoid that, the logic was tested repeatedly to make sure each range of scores matched the correct grade category. </a:t>
            </a:r>
          </a:p>
          <a:p>
            <a:r>
              <a:rPr lang="en-US" sz="2800" dirty="0" smtClean="0"/>
              <a:t>Another potential issue was division by zero, which could happen if the number of subjects was entered incorrectly or left as zero. Without the right checks, this would cause the program to generate error codes. To prevent that, validation steps were added before performing any division, making sure all calculations only ran with safe and valid input.</a:t>
            </a:r>
          </a:p>
          <a:p>
            <a:endParaRPr lang="en-US" sz="2800" dirty="0"/>
          </a:p>
        </p:txBody>
      </p:sp>
    </p:spTree>
    <p:extLst>
      <p:ext uri="{BB962C8B-B14F-4D97-AF65-F5344CB8AC3E}">
        <p14:creationId xmlns:p14="http://schemas.microsoft.com/office/powerpoint/2010/main" val="24464558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lumMod val="75000"/>
                  </a:schemeClr>
                </a:solidFill>
              </a:rPr>
              <a:t>Application and conclusion</a:t>
            </a:r>
            <a:endParaRPr lang="en-US" dirty="0">
              <a:solidFill>
                <a:schemeClr val="tx1">
                  <a:lumMod val="75000"/>
                </a:schemeClr>
              </a:solidFill>
            </a:endParaRPr>
          </a:p>
        </p:txBody>
      </p:sp>
      <p:sp>
        <p:nvSpPr>
          <p:cNvPr id="3" name="TextBox 2"/>
          <p:cNvSpPr txBox="1"/>
          <p:nvPr/>
        </p:nvSpPr>
        <p:spPr>
          <a:xfrm>
            <a:off x="574766" y="1935921"/>
            <a:ext cx="10894423" cy="4154984"/>
          </a:xfrm>
          <a:prstGeom prst="rect">
            <a:avLst/>
          </a:prstGeom>
          <a:noFill/>
        </p:spPr>
        <p:txBody>
          <a:bodyPr wrap="square" rtlCol="0">
            <a:spAutoFit/>
          </a:bodyPr>
          <a:lstStyle/>
          <a:p>
            <a:r>
              <a:rPr lang="en-US" sz="2400" dirty="0" smtClean="0"/>
              <a:t>This type of grading program can be used in many situations where a group of scores needs to be organized, processed, and turned into final results. One common place is in schools or educational institutions, where teachers may want a quick way to calculate the averages and final grades of their students without doing everything manually. With a few modifications training companies can use a version of this program to track employee test results, workshop performance, or skill-assessment scores. This code can also be used to help a professor to quickly access a students overall performance or the class average to observe what changes need to be brought if required</a:t>
            </a:r>
          </a:p>
          <a:p>
            <a:endParaRPr lang="en-US" sz="2400" dirty="0"/>
          </a:p>
        </p:txBody>
      </p:sp>
    </p:spTree>
    <p:extLst>
      <p:ext uri="{BB962C8B-B14F-4D97-AF65-F5344CB8AC3E}">
        <p14:creationId xmlns:p14="http://schemas.microsoft.com/office/powerpoint/2010/main" val="9251750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2846" y="1314994"/>
            <a:ext cx="11155680" cy="4154984"/>
          </a:xfrm>
          <a:prstGeom prst="rect">
            <a:avLst/>
          </a:prstGeom>
          <a:noFill/>
        </p:spPr>
        <p:txBody>
          <a:bodyPr wrap="square" rtlCol="0">
            <a:spAutoFit/>
          </a:bodyPr>
          <a:lstStyle/>
          <a:p>
            <a:r>
              <a:rPr lang="en-US" sz="2400" dirty="0" smtClean="0"/>
              <a:t>In conclusion, the program successfully achieves everything it was designed to do. It collects multiple scores for each student, calculates their average, assigns the correct grade, and presents the results in a clear way. The use of 2D arrays makes the program flexible enough to handle many students without becoming confusing or complicated. The logic used especially loops and if-else structures helps keep the code short efficient and organized which ensures any modification to the code is possible</a:t>
            </a:r>
            <a:br>
              <a:rPr lang="en-US" sz="2400" dirty="0" smtClean="0"/>
            </a:br>
            <a:r>
              <a:rPr lang="en-US" sz="2400" dirty="0" smtClean="0"/>
              <a:t>The development of the program also shows the importance of planning before writing code. By thinking carefully about how the data should be stored and how each step connects to the next one, the final program becomes more reliable and easier to maintain. </a:t>
            </a:r>
            <a:endParaRPr lang="en-US" sz="2400" dirty="0"/>
          </a:p>
        </p:txBody>
      </p:sp>
    </p:spTree>
    <p:extLst>
      <p:ext uri="{BB962C8B-B14F-4D97-AF65-F5344CB8AC3E}">
        <p14:creationId xmlns:p14="http://schemas.microsoft.com/office/powerpoint/2010/main" val="122697961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742332"/>
      </a:dk2>
      <a:lt2>
        <a:srgbClr val="EE91A0"/>
      </a:lt2>
      <a:accent1>
        <a:srgbClr val="E03754"/>
      </a:accent1>
      <a:accent2>
        <a:srgbClr val="E86C2E"/>
      </a:accent2>
      <a:accent3>
        <a:srgbClr val="DAB250"/>
      </a:accent3>
      <a:accent4>
        <a:srgbClr val="60C4AA"/>
      </a:accent4>
      <a:accent5>
        <a:srgbClr val="51A9DB"/>
      </a:accent5>
      <a:accent6>
        <a:srgbClr val="976AC9"/>
      </a:accent6>
      <a:hlink>
        <a:srgbClr val="D5445E"/>
      </a:hlink>
      <a:folHlink>
        <a:srgbClr val="E17C8E"/>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6B2E858E-683F-40D9-B4CB-284D097F3AC0}"/>
    </a:ext>
  </a:extLst>
</a:theme>
</file>

<file path=docProps/app.xml><?xml version="1.0" encoding="utf-8"?>
<Properties xmlns="http://schemas.openxmlformats.org/officeDocument/2006/extended-properties" xmlns:vt="http://schemas.openxmlformats.org/officeDocument/2006/docPropsVTypes">
  <Template>TM04033921[[fn=Damask]]</Template>
  <TotalTime>372</TotalTime>
  <Words>1218</Words>
  <Application>Microsoft Office PowerPoint</Application>
  <PresentationFormat>Widescreen</PresentationFormat>
  <Paragraphs>24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Bahnschrift SemiBold SemiConden</vt:lpstr>
      <vt:lpstr>Bookman Old Style</vt:lpstr>
      <vt:lpstr>Rockwell</vt:lpstr>
      <vt:lpstr>Damask</vt:lpstr>
      <vt:lpstr>CCP Report “Report card generator”</vt:lpstr>
      <vt:lpstr>Abstract</vt:lpstr>
      <vt:lpstr>Initial Steps</vt:lpstr>
      <vt:lpstr>Program requirements</vt:lpstr>
      <vt:lpstr>Using arrays in the code</vt:lpstr>
      <vt:lpstr>Use of loops</vt:lpstr>
      <vt:lpstr>Possible errors</vt:lpstr>
      <vt:lpstr>PowerPoint Presentation</vt:lpstr>
      <vt:lpstr>Application and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CCP Report “Report card generator”</dc:title>
  <dc:creator>Windows 10 Pro</dc:creator>
  <cp:lastModifiedBy>Windows 10 Pro</cp:lastModifiedBy>
  <cp:revision>14</cp:revision>
  <dcterms:created xsi:type="dcterms:W3CDTF">2025-11-09T11:19:11Z</dcterms:created>
  <dcterms:modified xsi:type="dcterms:W3CDTF">2025-11-09T17:31:17Z</dcterms:modified>
</cp:coreProperties>
</file>